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9" r:id="rId15"/>
    <p:sldId id="271" r:id="rId16"/>
    <p:sldId id="272" r:id="rId17"/>
  </p:sldIdLst>
  <p:sldSz cx="18288000" cy="10287000"/>
  <p:notesSz cx="6858000" cy="9144000"/>
  <p:embeddedFontLst>
    <p:embeddedFont>
      <p:font typeface="Abril Fatface" panose="020B0604020202020204" charset="0"/>
      <p:regular r:id="rId18"/>
    </p:embeddedFont>
    <p:embeddedFont>
      <p:font typeface="Antic" panose="020B0604020202020204" charset="0"/>
      <p:regular r:id="rId19"/>
    </p:embeddedFont>
    <p:embeddedFont>
      <p:font typeface="Antic Bold" panose="020B0604020202020204" charset="0"/>
      <p:regular r:id="rId20"/>
    </p:embeddedFont>
    <p:embeddedFont>
      <p:font typeface="Calibri (MS) Italics" panose="020B0604020202020204" charset="0"/>
      <p:regular r:id="rId21"/>
    </p:embeddedFont>
    <p:embeddedFont>
      <p:font typeface="Gill Sans Condensed" panose="020B0604020202020204" charset="0"/>
      <p:regular r:id="rId22"/>
    </p:embeddedFont>
    <p:embeddedFont>
      <p:font typeface="Merriweather" panose="020B0604020202020204" charset="0"/>
      <p:regular r:id="rId23"/>
    </p:embeddedFont>
    <p:embeddedFont>
      <p:font typeface="Merriweather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1" d="100"/>
          <a:sy n="41" d="100"/>
        </p:scale>
        <p:origin x="82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9.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package" Target="../embeddings/Microsoft_Excel_Worksheet.xlsx"/><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138046" y="2445670"/>
            <a:ext cx="14011908" cy="3886652"/>
          </a:xfrm>
          <a:prstGeom prst="rect">
            <a:avLst/>
          </a:prstGeom>
        </p:spPr>
        <p:txBody>
          <a:bodyPr lIns="0" tIns="0" rIns="0" bIns="0" rtlCol="0" anchor="t">
            <a:spAutoFit/>
          </a:bodyPr>
          <a:lstStyle/>
          <a:p>
            <a:pPr algn="ctr">
              <a:lnSpc>
                <a:spcPts val="28010"/>
              </a:lnSpc>
            </a:pPr>
            <a:r>
              <a:rPr lang="en-US" sz="21220" spc="1167">
                <a:solidFill>
                  <a:srgbClr val="000000"/>
                </a:solidFill>
                <a:latin typeface="Gill Sans Condensed"/>
                <a:ea typeface="Gill Sans Condensed"/>
                <a:cs typeface="Gill Sans Condensed"/>
                <a:sym typeface="Gill Sans Condensed"/>
              </a:rPr>
              <a:t>M-START</a:t>
            </a:r>
          </a:p>
        </p:txBody>
      </p:sp>
      <p:sp>
        <p:nvSpPr>
          <p:cNvPr id="9" name="TextBox 9"/>
          <p:cNvSpPr txBox="1"/>
          <p:nvPr/>
        </p:nvSpPr>
        <p:spPr>
          <a:xfrm>
            <a:off x="-1275948" y="5230643"/>
            <a:ext cx="20839896" cy="1720916"/>
          </a:xfrm>
          <a:prstGeom prst="rect">
            <a:avLst/>
          </a:prstGeom>
        </p:spPr>
        <p:txBody>
          <a:bodyPr lIns="0" tIns="0" rIns="0" bIns="0" rtlCol="0" anchor="t">
            <a:spAutoFit/>
          </a:bodyPr>
          <a:lstStyle/>
          <a:p>
            <a:pPr algn="ctr">
              <a:lnSpc>
                <a:spcPts val="6869"/>
              </a:lnSpc>
            </a:pPr>
            <a:r>
              <a:rPr lang="en-US" sz="5204" spc="57" dirty="0">
                <a:solidFill>
                  <a:srgbClr val="000000"/>
                </a:solidFill>
                <a:latin typeface="Antic"/>
                <a:ea typeface="Antic"/>
                <a:cs typeface="Antic"/>
                <a:sym typeface="Antic"/>
              </a:rPr>
              <a:t> A Mamba-Based Spatiotemporal Framework for Efficient</a:t>
            </a:r>
          </a:p>
          <a:p>
            <a:pPr algn="ctr">
              <a:lnSpc>
                <a:spcPts val="6869"/>
              </a:lnSpc>
            </a:pPr>
            <a:r>
              <a:rPr lang="en-US" sz="5204" spc="57" dirty="0">
                <a:solidFill>
                  <a:srgbClr val="000000"/>
                </a:solidFill>
                <a:latin typeface="Antic"/>
                <a:ea typeface="Antic"/>
                <a:cs typeface="Antic"/>
                <a:sym typeface="Antic"/>
              </a:rPr>
              <a:t> and Scalable Crime Prediction</a:t>
            </a:r>
          </a:p>
        </p:txBody>
      </p:sp>
      <p:sp>
        <p:nvSpPr>
          <p:cNvPr id="10" name="TextBox 10"/>
          <p:cNvSpPr txBox="1"/>
          <p:nvPr/>
        </p:nvSpPr>
        <p:spPr>
          <a:xfrm>
            <a:off x="14672730" y="6942214"/>
            <a:ext cx="2905522" cy="1839594"/>
          </a:xfrm>
          <a:prstGeom prst="rect">
            <a:avLst/>
          </a:prstGeom>
        </p:spPr>
        <p:txBody>
          <a:bodyPr lIns="0" tIns="0" rIns="0" bIns="0" rtlCol="0" anchor="t">
            <a:spAutoFit/>
          </a:bodyPr>
          <a:lstStyle/>
          <a:p>
            <a:pPr algn="ctr">
              <a:lnSpc>
                <a:spcPts val="5040"/>
              </a:lnSpc>
            </a:pPr>
            <a:r>
              <a:rPr lang="en-US" sz="3600" dirty="0">
                <a:solidFill>
                  <a:srgbClr val="000000"/>
                </a:solidFill>
                <a:latin typeface="Antic Bold"/>
                <a:ea typeface="Antic Bold"/>
                <a:cs typeface="Antic Bold"/>
                <a:sym typeface="Antic Bold"/>
              </a:rPr>
              <a:t>PRESENTED BY</a:t>
            </a:r>
          </a:p>
          <a:p>
            <a:pPr algn="ctr">
              <a:lnSpc>
                <a:spcPts val="3220"/>
              </a:lnSpc>
            </a:pPr>
            <a:r>
              <a:rPr lang="en-US" sz="2300" dirty="0">
                <a:solidFill>
                  <a:srgbClr val="000000"/>
                </a:solidFill>
                <a:latin typeface="Antic"/>
                <a:ea typeface="Antic"/>
                <a:cs typeface="Antic"/>
                <a:sym typeface="Antic"/>
              </a:rPr>
              <a:t>ISHA NABEEL </a:t>
            </a:r>
          </a:p>
          <a:p>
            <a:pPr algn="ctr">
              <a:lnSpc>
                <a:spcPts val="3220"/>
              </a:lnSpc>
            </a:pPr>
            <a:r>
              <a:rPr lang="en-US" sz="2300" dirty="0">
                <a:solidFill>
                  <a:srgbClr val="000000"/>
                </a:solidFill>
                <a:latin typeface="Antic"/>
                <a:ea typeface="Antic"/>
                <a:cs typeface="Antic"/>
                <a:sym typeface="Antic"/>
              </a:rPr>
              <a:t>EISHAL WAQAS</a:t>
            </a:r>
          </a:p>
          <a:p>
            <a:pPr algn="ctr">
              <a:lnSpc>
                <a:spcPts val="3220"/>
              </a:lnSpc>
            </a:pPr>
            <a:r>
              <a:rPr lang="en-US" sz="2300" dirty="0">
                <a:solidFill>
                  <a:srgbClr val="000000"/>
                </a:solidFill>
                <a:latin typeface="Antic"/>
                <a:ea typeface="Antic"/>
                <a:cs typeface="Antic"/>
                <a:sym typeface="Antic"/>
              </a:rPr>
              <a:t>AIMA ANJUM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grpSp>
        <p:nvGrpSpPr>
          <p:cNvPr id="2" name="Group 2"/>
          <p:cNvGrpSpPr/>
          <p:nvPr/>
        </p:nvGrpSpPr>
        <p:grpSpPr>
          <a:xfrm>
            <a:off x="16197774" y="8764908"/>
            <a:ext cx="1061526" cy="3044184"/>
            <a:chOff x="0" y="0"/>
            <a:chExt cx="279579" cy="801760"/>
          </a:xfrm>
        </p:grpSpPr>
        <p:sp>
          <p:nvSpPr>
            <p:cNvPr id="3" name="Freeform 3"/>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4" name="TextBox 4"/>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01</a:t>
            </a:r>
          </a:p>
        </p:txBody>
      </p:sp>
      <p:sp>
        <p:nvSpPr>
          <p:cNvPr id="7" name="Freeform 7"/>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INTRODUCTION</a:t>
            </a:r>
          </a:p>
        </p:txBody>
      </p:sp>
      <p:sp>
        <p:nvSpPr>
          <p:cNvPr id="11" name="TextBox 11"/>
          <p:cNvSpPr txBox="1"/>
          <p:nvPr/>
        </p:nvSpPr>
        <p:spPr>
          <a:xfrm>
            <a:off x="3952197" y="1849758"/>
            <a:ext cx="10118206" cy="6915150"/>
          </a:xfrm>
          <a:prstGeom prst="rect">
            <a:avLst/>
          </a:prstGeom>
        </p:spPr>
        <p:txBody>
          <a:bodyPr lIns="0" tIns="0" rIns="0" bIns="0" rtlCol="0" anchor="t">
            <a:spAutoFit/>
          </a:bodyPr>
          <a:lstStyle/>
          <a:p>
            <a:pPr algn="l">
              <a:lnSpc>
                <a:spcPts val="4200"/>
              </a:lnSpc>
            </a:pPr>
            <a:endParaRPr dirty="0"/>
          </a:p>
          <a:p>
            <a:pPr algn="l">
              <a:lnSpc>
                <a:spcPts val="4200"/>
              </a:lnSpc>
            </a:pPr>
            <a:endParaRPr dirty="0"/>
          </a:p>
          <a:p>
            <a:pPr algn="just">
              <a:lnSpc>
                <a:spcPts val="4200"/>
              </a:lnSpc>
            </a:pPr>
            <a:r>
              <a:rPr lang="en-US" sz="3000" dirty="0">
                <a:solidFill>
                  <a:srgbClr val="353534"/>
                </a:solidFill>
                <a:latin typeface="Merriweather"/>
                <a:ea typeface="Merriweather"/>
                <a:cs typeface="Merriweather"/>
                <a:sym typeface="Merriweather"/>
              </a:rPr>
              <a:t>Crime negatively affects society and economic development. Law enforcement agencies require proactive strategies. Crime forecasting helps allocate police resources efficiently. AI and deep learning can improve forecasting accuracy. Existing transformer models perform well but require high computational resources.</a:t>
            </a:r>
          </a:p>
          <a:p>
            <a:pPr algn="just">
              <a:lnSpc>
                <a:spcPts val="4200"/>
              </a:lnSpc>
            </a:pPr>
            <a:r>
              <a:rPr lang="en-US" sz="3000" dirty="0">
                <a:solidFill>
                  <a:srgbClr val="353534"/>
                </a:solidFill>
                <a:latin typeface="Merriweather"/>
                <a:ea typeface="Merriweather"/>
                <a:cs typeface="Merriweather"/>
                <a:sym typeface="Merriweather"/>
              </a:rPr>
              <a:t>Modern AI models can predict:</a:t>
            </a:r>
          </a:p>
          <a:p>
            <a:pPr marL="647700" lvl="1" indent="-323850" algn="l">
              <a:lnSpc>
                <a:spcPts val="4200"/>
              </a:lnSpc>
              <a:buFont typeface="Arial"/>
              <a:buChar char="•"/>
            </a:pPr>
            <a:r>
              <a:rPr lang="en-US" sz="3000" dirty="0">
                <a:solidFill>
                  <a:srgbClr val="353534"/>
                </a:solidFill>
                <a:latin typeface="Merriweather"/>
                <a:ea typeface="Merriweather"/>
                <a:cs typeface="Merriweather"/>
                <a:sym typeface="Merriweather"/>
              </a:rPr>
              <a:t>    When crimes may occur</a:t>
            </a:r>
          </a:p>
          <a:p>
            <a:pPr marL="647700" lvl="1" indent="-323850" algn="l">
              <a:lnSpc>
                <a:spcPts val="4200"/>
              </a:lnSpc>
              <a:buFont typeface="Arial"/>
              <a:buChar char="•"/>
            </a:pPr>
            <a:r>
              <a:rPr lang="en-US" sz="3000" dirty="0">
                <a:solidFill>
                  <a:srgbClr val="353534"/>
                </a:solidFill>
                <a:latin typeface="Merriweather"/>
                <a:ea typeface="Merriweather"/>
                <a:cs typeface="Merriweather"/>
                <a:sym typeface="Merriweather"/>
              </a:rPr>
              <a:t>    Where crimes may occur</a:t>
            </a:r>
          </a:p>
          <a:p>
            <a:pPr marL="647700" lvl="1" indent="-323850" algn="l">
              <a:lnSpc>
                <a:spcPts val="4200"/>
              </a:lnSpc>
              <a:buFont typeface="Arial"/>
              <a:buChar char="•"/>
            </a:pPr>
            <a:r>
              <a:rPr lang="en-US" sz="3000" dirty="0">
                <a:solidFill>
                  <a:srgbClr val="353534"/>
                </a:solidFill>
                <a:latin typeface="Merriweather"/>
                <a:ea typeface="Merriweather"/>
                <a:cs typeface="Merriweather"/>
                <a:sym typeface="Merriweather"/>
              </a:rPr>
              <a:t>    Which crime type is likely</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197774"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02</a:t>
            </a:r>
          </a:p>
        </p:txBody>
      </p:sp>
      <p:sp>
        <p:nvSpPr>
          <p:cNvPr id="10" name="Freeform 10"/>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2122421" y="5334491"/>
            <a:ext cx="14336629" cy="3430417"/>
          </a:xfrm>
          <a:custGeom>
            <a:avLst/>
            <a:gdLst/>
            <a:ahLst/>
            <a:cxnLst/>
            <a:rect l="l" t="t" r="r" b="b"/>
            <a:pathLst>
              <a:path w="14336629" h="3430417">
                <a:moveTo>
                  <a:pt x="0" y="0"/>
                </a:moveTo>
                <a:lnTo>
                  <a:pt x="14336629" y="0"/>
                </a:lnTo>
                <a:lnTo>
                  <a:pt x="14336629" y="3430417"/>
                </a:lnTo>
                <a:lnTo>
                  <a:pt x="0" y="3430417"/>
                </a:lnTo>
                <a:lnTo>
                  <a:pt x="0" y="0"/>
                </a:lnTo>
                <a:close/>
              </a:path>
            </a:pathLst>
          </a:custGeom>
          <a:blipFill>
            <a:blip r:embed="rId6"/>
            <a:stretch>
              <a:fillRect r="-36861"/>
            </a:stretch>
          </a:blipFill>
        </p:spPr>
      </p:sp>
      <p:sp>
        <p:nvSpPr>
          <p:cNvPr id="12" name="TextBox 12"/>
          <p:cNvSpPr txBox="1"/>
          <p:nvPr/>
        </p:nvSpPr>
        <p:spPr>
          <a:xfrm>
            <a:off x="3779655" y="1123980"/>
            <a:ext cx="10383605" cy="2787649"/>
          </a:xfrm>
          <a:prstGeom prst="rect">
            <a:avLst/>
          </a:prstGeom>
        </p:spPr>
        <p:txBody>
          <a:bodyPr lIns="0" tIns="0" rIns="0" bIns="0" rtlCol="0" anchor="t">
            <a:spAutoFit/>
          </a:bodyPr>
          <a:lstStyle/>
          <a:p>
            <a:pPr algn="ctr">
              <a:lnSpc>
                <a:spcPts val="11200"/>
              </a:lnSpc>
            </a:pPr>
            <a:r>
              <a:rPr lang="en-US" sz="8000" dirty="0">
                <a:solidFill>
                  <a:srgbClr val="353534"/>
                </a:solidFill>
                <a:latin typeface="Abril Fatface"/>
                <a:ea typeface="Abril Fatface"/>
                <a:cs typeface="Abril Fatface"/>
                <a:sym typeface="Abril Fatface"/>
              </a:rPr>
              <a:t>SHORTCOMING OF </a:t>
            </a:r>
          </a:p>
          <a:p>
            <a:pPr algn="ctr">
              <a:lnSpc>
                <a:spcPts val="11200"/>
              </a:lnSpc>
              <a:spcBef>
                <a:spcPct val="0"/>
              </a:spcBef>
            </a:pPr>
            <a:r>
              <a:rPr lang="en-US" sz="8000" dirty="0">
                <a:solidFill>
                  <a:srgbClr val="353534"/>
                </a:solidFill>
                <a:latin typeface="Abril Fatface"/>
                <a:ea typeface="Abril Fatface"/>
                <a:cs typeface="Abril Fatface"/>
                <a:sym typeface="Abril Fatface"/>
              </a:rPr>
              <a:t>PREVIOUS MODELS</a:t>
            </a:r>
          </a:p>
        </p:txBody>
      </p:sp>
      <p:sp>
        <p:nvSpPr>
          <p:cNvPr id="13" name="TextBox 13"/>
          <p:cNvSpPr txBox="1"/>
          <p:nvPr/>
        </p:nvSpPr>
        <p:spPr>
          <a:xfrm>
            <a:off x="3947483" y="8050155"/>
            <a:ext cx="647717" cy="385618"/>
          </a:xfrm>
          <a:prstGeom prst="rect">
            <a:avLst/>
          </a:prstGeom>
        </p:spPr>
        <p:txBody>
          <a:bodyPr wrap="square" lIns="0" tIns="0" rIns="0" bIns="0" rtlCol="0" anchor="t">
            <a:spAutoFit/>
          </a:bodyPr>
          <a:lstStyle/>
          <a:p>
            <a:pPr algn="ctr">
              <a:lnSpc>
                <a:spcPts val="3220"/>
              </a:lnSpc>
            </a:pPr>
            <a:r>
              <a:rPr lang="en-US" sz="2300" i="1" dirty="0">
                <a:solidFill>
                  <a:srgbClr val="545454"/>
                </a:solidFill>
                <a:latin typeface="Calibri (MS) Italics"/>
                <a:ea typeface="Calibri (MS) Italics"/>
                <a:cs typeface="Calibri (MS) Italics"/>
                <a:sym typeface="Calibri (MS) Italics"/>
              </a:rPr>
              <a:t>O(n)</a:t>
            </a:r>
          </a:p>
        </p:txBody>
      </p:sp>
      <p:sp>
        <p:nvSpPr>
          <p:cNvPr id="15" name="TextBox 15"/>
          <p:cNvSpPr txBox="1"/>
          <p:nvPr/>
        </p:nvSpPr>
        <p:spPr>
          <a:xfrm>
            <a:off x="13849230" y="8050156"/>
            <a:ext cx="647717" cy="385618"/>
          </a:xfrm>
          <a:prstGeom prst="rect">
            <a:avLst/>
          </a:prstGeom>
        </p:spPr>
        <p:txBody>
          <a:bodyPr wrap="square" lIns="0" tIns="0" rIns="0" bIns="0" rtlCol="0" anchor="t">
            <a:spAutoFit/>
          </a:bodyPr>
          <a:lstStyle/>
          <a:p>
            <a:pPr algn="ctr">
              <a:lnSpc>
                <a:spcPts val="3220"/>
              </a:lnSpc>
            </a:pPr>
            <a:r>
              <a:rPr lang="en-US" sz="2300" i="1" dirty="0">
                <a:solidFill>
                  <a:srgbClr val="545454"/>
                </a:solidFill>
                <a:latin typeface="Calibri (MS) Italics"/>
                <a:ea typeface="Calibri (MS) Italics"/>
                <a:cs typeface="Calibri (MS) Italics"/>
                <a:sym typeface="Calibri (MS) Italics"/>
              </a:rPr>
              <a:t>O(n²)</a:t>
            </a:r>
          </a:p>
        </p:txBody>
      </p:sp>
      <p:sp>
        <p:nvSpPr>
          <p:cNvPr id="16" name="TextBox 13">
            <a:extLst>
              <a:ext uri="{FF2B5EF4-FFF2-40B4-BE49-F238E27FC236}">
                <a16:creationId xmlns:a16="http://schemas.microsoft.com/office/drawing/2014/main" id="{8DD75941-AAE6-D22A-CC69-3FD6685AE5EF}"/>
              </a:ext>
            </a:extLst>
          </p:cNvPr>
          <p:cNvSpPr txBox="1"/>
          <p:nvPr/>
        </p:nvSpPr>
        <p:spPr>
          <a:xfrm>
            <a:off x="8820141" y="8050155"/>
            <a:ext cx="647717" cy="385618"/>
          </a:xfrm>
          <a:prstGeom prst="rect">
            <a:avLst/>
          </a:prstGeom>
        </p:spPr>
        <p:txBody>
          <a:bodyPr wrap="square" lIns="0" tIns="0" rIns="0" bIns="0" rtlCol="0" anchor="t">
            <a:spAutoFit/>
          </a:bodyPr>
          <a:lstStyle/>
          <a:p>
            <a:pPr algn="ctr">
              <a:lnSpc>
                <a:spcPts val="3220"/>
              </a:lnSpc>
            </a:pPr>
            <a:r>
              <a:rPr lang="en-US" sz="2300" i="1" dirty="0">
                <a:solidFill>
                  <a:srgbClr val="545454"/>
                </a:solidFill>
                <a:latin typeface="Calibri (MS) Italics"/>
                <a:ea typeface="Calibri (MS) Italics"/>
                <a:cs typeface="Calibri (MS) Italics"/>
                <a:sym typeface="Calibri (MS) Italics"/>
              </a:rPr>
              <a:t>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PROBLEM</a:t>
            </a:r>
          </a:p>
        </p:txBody>
      </p:sp>
      <p:sp>
        <p:nvSpPr>
          <p:cNvPr id="7" name="TextBox 7"/>
          <p:cNvSpPr txBox="1"/>
          <p:nvPr/>
        </p:nvSpPr>
        <p:spPr>
          <a:xfrm>
            <a:off x="3506546" y="2754999"/>
            <a:ext cx="11274909" cy="6424930"/>
          </a:xfrm>
          <a:prstGeom prst="rect">
            <a:avLst/>
          </a:prstGeom>
        </p:spPr>
        <p:txBody>
          <a:bodyPr lIns="0" tIns="0" rIns="0" bIns="0" rtlCol="0" anchor="t">
            <a:spAutoFit/>
          </a:bodyPr>
          <a:lstStyle/>
          <a:p>
            <a:pPr algn="l">
              <a:lnSpc>
                <a:spcPts val="3920"/>
              </a:lnSpc>
            </a:pPr>
            <a:r>
              <a:rPr lang="en-US" sz="2800" b="1" dirty="0">
                <a:solidFill>
                  <a:srgbClr val="353534"/>
                </a:solidFill>
                <a:latin typeface="Merriweather Bold"/>
                <a:ea typeface="Merriweather Bold"/>
                <a:cs typeface="Merriweather Bold"/>
                <a:sym typeface="Merriweather Bold"/>
              </a:rPr>
              <a:t>Limitation</a:t>
            </a:r>
            <a:r>
              <a:rPr lang="en-US" sz="2800" dirty="0">
                <a:solidFill>
                  <a:srgbClr val="353534"/>
                </a:solidFill>
                <a:latin typeface="Merriweather"/>
                <a:ea typeface="Merriweather"/>
                <a:cs typeface="Merriweather"/>
                <a:sym typeface="Merriweather"/>
              </a:rPr>
              <a:t>: Transformer self-attention scales quadratically O(n²), making it computationally expensive and memory intensive</a:t>
            </a:r>
          </a:p>
          <a:p>
            <a:pPr algn="l">
              <a:lnSpc>
                <a:spcPts val="3920"/>
              </a:lnSpc>
            </a:pPr>
            <a:endParaRPr lang="en-US" sz="2800" dirty="0">
              <a:solidFill>
                <a:srgbClr val="353534"/>
              </a:solidFill>
              <a:latin typeface="Merriweather"/>
              <a:ea typeface="Merriweather"/>
              <a:cs typeface="Merriweather"/>
              <a:sym typeface="Merriweather"/>
            </a:endParaRPr>
          </a:p>
          <a:p>
            <a:pPr algn="l">
              <a:lnSpc>
                <a:spcPts val="3920"/>
              </a:lnSpc>
            </a:pPr>
            <a:r>
              <a:rPr lang="en-US" sz="2800" b="1" dirty="0">
                <a:solidFill>
                  <a:srgbClr val="353534"/>
                </a:solidFill>
                <a:latin typeface="Merriweather Bold"/>
                <a:ea typeface="Merriweather Bold"/>
                <a:cs typeface="Merriweather Bold"/>
                <a:sym typeface="Merriweather Bold"/>
              </a:rPr>
              <a:t>Gap</a:t>
            </a:r>
            <a:r>
              <a:rPr lang="en-US" sz="2800" dirty="0">
                <a:solidFill>
                  <a:srgbClr val="353534"/>
                </a:solidFill>
                <a:latin typeface="Merriweather"/>
                <a:ea typeface="Merriweather"/>
                <a:cs typeface="Merriweather"/>
                <a:sym typeface="Merriweather"/>
              </a:rPr>
              <a:t>: Efficient sequence models (e.g., Mamba) offer linear-time processing, but have not been integrated with crime-specific components like STL decomposition and VAR-style dependency modeling.</a:t>
            </a:r>
          </a:p>
          <a:p>
            <a:pPr algn="l">
              <a:lnSpc>
                <a:spcPts val="3920"/>
              </a:lnSpc>
            </a:pPr>
            <a:endParaRPr lang="en-US" sz="2800" dirty="0">
              <a:solidFill>
                <a:srgbClr val="353534"/>
              </a:solidFill>
              <a:latin typeface="Merriweather"/>
              <a:ea typeface="Merriweather"/>
              <a:cs typeface="Merriweather"/>
              <a:sym typeface="Merriweather"/>
            </a:endParaRPr>
          </a:p>
          <a:p>
            <a:pPr algn="l">
              <a:lnSpc>
                <a:spcPts val="3920"/>
              </a:lnSpc>
            </a:pPr>
            <a:r>
              <a:rPr lang="en-US" sz="2800" b="1" dirty="0">
                <a:solidFill>
                  <a:srgbClr val="353534"/>
                </a:solidFill>
                <a:latin typeface="Merriweather Bold"/>
                <a:ea typeface="Merriweather Bold"/>
                <a:cs typeface="Merriweather Bold"/>
                <a:sym typeface="Merriweather Bold"/>
              </a:rPr>
              <a:t>Need: </a:t>
            </a:r>
            <a:r>
              <a:rPr lang="en-US" sz="2800" dirty="0">
                <a:solidFill>
                  <a:srgbClr val="353534"/>
                </a:solidFill>
                <a:latin typeface="Merriweather"/>
                <a:ea typeface="Merriweather"/>
                <a:cs typeface="Merriweather"/>
                <a:sym typeface="Merriweather"/>
              </a:rPr>
              <a:t>A crime forecasting framework that maintains transformer-level accuracy while reducing computational cost for scalable, real-world deployment.</a:t>
            </a:r>
          </a:p>
          <a:p>
            <a:pPr algn="l">
              <a:lnSpc>
                <a:spcPts val="3920"/>
              </a:lnSpc>
            </a:pPr>
            <a:endParaRPr lang="en-US" sz="2800" dirty="0">
              <a:solidFill>
                <a:srgbClr val="353534"/>
              </a:solidFill>
              <a:latin typeface="Merriweather"/>
              <a:ea typeface="Merriweather"/>
              <a:cs typeface="Merriweather"/>
              <a:sym typeface="Merriweather"/>
            </a:endParaRPr>
          </a:p>
        </p:txBody>
      </p:sp>
      <p:grpSp>
        <p:nvGrpSpPr>
          <p:cNvPr id="8" name="Group 8"/>
          <p:cNvGrpSpPr/>
          <p:nvPr/>
        </p:nvGrpSpPr>
        <p:grpSpPr>
          <a:xfrm>
            <a:off x="16197774"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03</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SOLUTION</a:t>
            </a:r>
          </a:p>
        </p:txBody>
      </p:sp>
      <p:sp>
        <p:nvSpPr>
          <p:cNvPr id="7" name="TextBox 7"/>
          <p:cNvSpPr txBox="1"/>
          <p:nvPr/>
        </p:nvSpPr>
        <p:spPr>
          <a:xfrm>
            <a:off x="1839548" y="2835779"/>
            <a:ext cx="14573328" cy="5848350"/>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353534"/>
                </a:solidFill>
                <a:latin typeface="Merriweather"/>
                <a:ea typeface="Merriweather"/>
                <a:cs typeface="Merriweather"/>
                <a:sym typeface="Merriweather"/>
              </a:rPr>
              <a:t>Introduce M-START, a Mamba-based spatiotemporal crime forecasting framework.</a:t>
            </a:r>
          </a:p>
          <a:p>
            <a:pPr marL="1295400" lvl="2" indent="-431800" algn="just">
              <a:lnSpc>
                <a:spcPts val="4200"/>
              </a:lnSpc>
              <a:buFont typeface="Arial"/>
              <a:buChar char="⚬"/>
            </a:pPr>
            <a:r>
              <a:rPr lang="en-US" sz="3000" dirty="0">
                <a:solidFill>
                  <a:srgbClr val="353534"/>
                </a:solidFill>
                <a:latin typeface="Merriweather"/>
                <a:ea typeface="Merriweather"/>
                <a:cs typeface="Merriweather"/>
                <a:sym typeface="Merriweather"/>
              </a:rPr>
              <a:t>Replace transformer self-attention with a linear-time selective state-space (Mamba) encoder.</a:t>
            </a:r>
          </a:p>
          <a:p>
            <a:pPr marL="647700" lvl="1" indent="-323850" algn="just">
              <a:lnSpc>
                <a:spcPts val="4200"/>
              </a:lnSpc>
              <a:buFont typeface="Arial"/>
              <a:buChar char="•"/>
            </a:pPr>
            <a:r>
              <a:rPr lang="en-US" sz="3000" dirty="0">
                <a:solidFill>
                  <a:srgbClr val="353534"/>
                </a:solidFill>
                <a:latin typeface="Merriweather"/>
                <a:ea typeface="Merriweather"/>
                <a:cs typeface="Merriweather"/>
                <a:sym typeface="Merriweather"/>
              </a:rPr>
              <a:t>Preserve key accuracy components:</a:t>
            </a:r>
          </a:p>
          <a:p>
            <a:pPr marL="1295400" lvl="2" indent="-431800" algn="just">
              <a:lnSpc>
                <a:spcPts val="4200"/>
              </a:lnSpc>
              <a:buFont typeface="Arial"/>
              <a:buChar char="⚬"/>
            </a:pPr>
            <a:r>
              <a:rPr lang="en-US" sz="3000" dirty="0">
                <a:solidFill>
                  <a:srgbClr val="353534"/>
                </a:solidFill>
                <a:latin typeface="Merriweather"/>
                <a:ea typeface="Merriweather"/>
                <a:cs typeface="Merriweather"/>
                <a:sym typeface="Merriweather"/>
              </a:rPr>
              <a:t>STL decomposition (trend &amp; seasonality)</a:t>
            </a:r>
          </a:p>
          <a:p>
            <a:pPr marL="1295400" lvl="2" indent="-431800" algn="just">
              <a:lnSpc>
                <a:spcPts val="4200"/>
              </a:lnSpc>
              <a:buFont typeface="Arial"/>
              <a:buChar char="⚬"/>
            </a:pPr>
            <a:r>
              <a:rPr lang="en-US" sz="3000" dirty="0">
                <a:solidFill>
                  <a:srgbClr val="353534"/>
                </a:solidFill>
                <a:latin typeface="Merriweather"/>
                <a:ea typeface="Merriweather"/>
                <a:cs typeface="Merriweather"/>
                <a:sym typeface="Merriweather"/>
              </a:rPr>
              <a:t>crime-type embeddings</a:t>
            </a:r>
          </a:p>
          <a:p>
            <a:pPr marL="1295400" lvl="2" indent="-431800" algn="just">
              <a:lnSpc>
                <a:spcPts val="4200"/>
              </a:lnSpc>
              <a:buFont typeface="Arial"/>
              <a:buChar char="⚬"/>
            </a:pPr>
            <a:r>
              <a:rPr lang="en-US" sz="3000" dirty="0">
                <a:solidFill>
                  <a:srgbClr val="353534"/>
                </a:solidFill>
                <a:latin typeface="Merriweather"/>
                <a:ea typeface="Merriweather"/>
                <a:cs typeface="Merriweather"/>
                <a:sym typeface="Merriweather"/>
              </a:rPr>
              <a:t>VAR-style multivariate dependency modeling.</a:t>
            </a:r>
          </a:p>
          <a:p>
            <a:pPr marL="647700" lvl="1" indent="-323850" algn="just">
              <a:lnSpc>
                <a:spcPts val="4200"/>
              </a:lnSpc>
              <a:buFont typeface="Arial"/>
              <a:buChar char="•"/>
            </a:pPr>
            <a:r>
              <a:rPr lang="en-US" sz="3000" dirty="0">
                <a:solidFill>
                  <a:srgbClr val="353534"/>
                </a:solidFill>
                <a:latin typeface="Merriweather"/>
                <a:ea typeface="Merriweather"/>
                <a:cs typeface="Merriweather"/>
                <a:sym typeface="Merriweather"/>
              </a:rPr>
              <a:t>Can achieve transformer-level prediction accuracy with significantly lower computation and memory cost.</a:t>
            </a:r>
          </a:p>
          <a:p>
            <a:pPr algn="just">
              <a:lnSpc>
                <a:spcPts val="4200"/>
              </a:lnSpc>
              <a:spcBef>
                <a:spcPct val="0"/>
              </a:spcBef>
            </a:pPr>
            <a:endParaRPr lang="en-US" sz="3000" dirty="0">
              <a:solidFill>
                <a:srgbClr val="353534"/>
              </a:solidFill>
              <a:latin typeface="Merriweather"/>
              <a:ea typeface="Merriweather"/>
              <a:cs typeface="Merriweather"/>
              <a:sym typeface="Merriweather"/>
            </a:endParaRPr>
          </a:p>
        </p:txBody>
      </p:sp>
      <p:grpSp>
        <p:nvGrpSpPr>
          <p:cNvPr id="8" name="Group 8"/>
          <p:cNvGrpSpPr/>
          <p:nvPr/>
        </p:nvGrpSpPr>
        <p:grpSpPr>
          <a:xfrm>
            <a:off x="16207299"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2" name="Freeform 12"/>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35804" y="876300"/>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WHAT IS MAMBA?</a:t>
            </a:r>
          </a:p>
        </p:txBody>
      </p:sp>
      <p:sp>
        <p:nvSpPr>
          <p:cNvPr id="7" name="TextBox 7"/>
          <p:cNvSpPr txBox="1"/>
          <p:nvPr/>
        </p:nvSpPr>
        <p:spPr>
          <a:xfrm>
            <a:off x="2286194" y="1410327"/>
            <a:ext cx="13981761" cy="8122502"/>
          </a:xfrm>
          <a:prstGeom prst="rect">
            <a:avLst/>
          </a:prstGeom>
        </p:spPr>
        <p:txBody>
          <a:bodyPr lIns="0" tIns="0" rIns="0" bIns="0" rtlCol="0" anchor="t">
            <a:spAutoFit/>
          </a:bodyPr>
          <a:lstStyle/>
          <a:p>
            <a:pPr algn="just">
              <a:lnSpc>
                <a:spcPts val="4328"/>
              </a:lnSpc>
            </a:pPr>
            <a:endParaRPr dirty="0"/>
          </a:p>
          <a:p>
            <a:pPr algn="just">
              <a:lnSpc>
                <a:spcPts val="4328"/>
              </a:lnSpc>
            </a:pPr>
            <a:endParaRPr dirty="0"/>
          </a:p>
          <a:p>
            <a:pPr algn="just">
              <a:lnSpc>
                <a:spcPts val="4328"/>
              </a:lnSpc>
            </a:pPr>
            <a:r>
              <a:rPr lang="en-US" sz="3091" dirty="0">
                <a:solidFill>
                  <a:srgbClr val="353534"/>
                </a:solidFill>
                <a:latin typeface="Merriweather"/>
                <a:ea typeface="Merriweather"/>
                <a:cs typeface="Merriweather"/>
                <a:sym typeface="Merriweather"/>
              </a:rPr>
              <a:t>Mamba is a selective state-space sequence model designed for long time-series.</a:t>
            </a:r>
          </a:p>
          <a:p>
            <a:pPr marL="667448" lvl="1" indent="-333724" algn="just">
              <a:lnSpc>
                <a:spcPts val="4328"/>
              </a:lnSpc>
              <a:buFont typeface="Arial"/>
              <a:buChar char="•"/>
            </a:pPr>
            <a:r>
              <a:rPr lang="en-US" sz="3091" dirty="0">
                <a:solidFill>
                  <a:srgbClr val="353534"/>
                </a:solidFill>
                <a:latin typeface="Merriweather"/>
                <a:ea typeface="Merriweather"/>
                <a:cs typeface="Merriweather"/>
                <a:sym typeface="Merriweather"/>
              </a:rPr>
              <a:t>Instead of comparing every token with every other token (like Transformers), Mamba processes the sequence step by step in order.</a:t>
            </a:r>
          </a:p>
          <a:p>
            <a:pPr algn="just">
              <a:lnSpc>
                <a:spcPts val="4328"/>
              </a:lnSpc>
            </a:pPr>
            <a:endParaRPr lang="en-US" sz="3091" dirty="0">
              <a:solidFill>
                <a:srgbClr val="353534"/>
              </a:solidFill>
              <a:latin typeface="Merriweather"/>
              <a:ea typeface="Merriweather"/>
              <a:cs typeface="Merriweather"/>
              <a:sym typeface="Merriweather"/>
            </a:endParaRPr>
          </a:p>
          <a:p>
            <a:pPr algn="just">
              <a:lnSpc>
                <a:spcPts val="4328"/>
              </a:lnSpc>
            </a:pPr>
            <a:r>
              <a:rPr lang="en-US" sz="3091" dirty="0">
                <a:solidFill>
                  <a:srgbClr val="353534"/>
                </a:solidFill>
                <a:latin typeface="Merriweather"/>
                <a:ea typeface="Merriweather"/>
                <a:cs typeface="Merriweather"/>
                <a:sym typeface="Merriweather"/>
              </a:rPr>
              <a:t>Selective Filtering</a:t>
            </a:r>
          </a:p>
          <a:p>
            <a:pPr marL="667448" lvl="1" indent="-333724" algn="just">
              <a:lnSpc>
                <a:spcPts val="4328"/>
              </a:lnSpc>
              <a:buFont typeface="Arial"/>
              <a:buChar char="•"/>
            </a:pPr>
            <a:r>
              <a:rPr lang="en-US" sz="3091" dirty="0">
                <a:solidFill>
                  <a:srgbClr val="353534"/>
                </a:solidFill>
                <a:latin typeface="Merriweather"/>
                <a:ea typeface="Merriweather"/>
                <a:cs typeface="Merriweather"/>
                <a:sym typeface="Merriweather"/>
              </a:rPr>
              <a:t>Not all information is treated equally.</a:t>
            </a:r>
          </a:p>
          <a:p>
            <a:pPr marL="667448" lvl="1" indent="-333724" algn="just">
              <a:lnSpc>
                <a:spcPts val="4328"/>
              </a:lnSpc>
              <a:buFont typeface="Arial"/>
              <a:buChar char="•"/>
            </a:pPr>
            <a:r>
              <a:rPr lang="en-US" sz="3091" dirty="0">
                <a:solidFill>
                  <a:srgbClr val="353534"/>
                </a:solidFill>
                <a:latin typeface="Merriweather"/>
                <a:ea typeface="Merriweather"/>
                <a:cs typeface="Merriweather"/>
                <a:sym typeface="Merriweather"/>
              </a:rPr>
              <a:t>Mamba decide:</a:t>
            </a:r>
          </a:p>
          <a:p>
            <a:pPr marL="1334897" lvl="2" indent="-444966" algn="just">
              <a:lnSpc>
                <a:spcPts val="4328"/>
              </a:lnSpc>
              <a:buFont typeface="Arial"/>
              <a:buChar char="⚬"/>
            </a:pPr>
            <a:r>
              <a:rPr lang="en-US" sz="3091" dirty="0">
                <a:solidFill>
                  <a:srgbClr val="353534"/>
                </a:solidFill>
                <a:latin typeface="Merriweather"/>
                <a:ea typeface="Merriweather"/>
                <a:cs typeface="Merriweather"/>
                <a:sym typeface="Merriweather"/>
              </a:rPr>
              <a:t>what to keep</a:t>
            </a:r>
          </a:p>
          <a:p>
            <a:pPr marL="1334897" lvl="2" indent="-444966" algn="just">
              <a:lnSpc>
                <a:spcPts val="4328"/>
              </a:lnSpc>
              <a:buFont typeface="Arial"/>
              <a:buChar char="⚬"/>
            </a:pPr>
            <a:r>
              <a:rPr lang="en-US" sz="3091" dirty="0">
                <a:solidFill>
                  <a:srgbClr val="353534"/>
                </a:solidFill>
                <a:latin typeface="Merriweather"/>
                <a:ea typeface="Merriweather"/>
                <a:cs typeface="Merriweather"/>
                <a:sym typeface="Merriweather"/>
              </a:rPr>
              <a:t>what to forget</a:t>
            </a:r>
          </a:p>
          <a:p>
            <a:pPr marL="1334897" lvl="2" indent="-444966" algn="just">
              <a:lnSpc>
                <a:spcPts val="4328"/>
              </a:lnSpc>
              <a:buFont typeface="Arial"/>
              <a:buChar char="⚬"/>
            </a:pPr>
            <a:r>
              <a:rPr lang="en-US" sz="3091" dirty="0">
                <a:solidFill>
                  <a:srgbClr val="353534"/>
                </a:solidFill>
                <a:latin typeface="Merriweather"/>
                <a:ea typeface="Merriweather"/>
                <a:cs typeface="Merriweather"/>
                <a:sym typeface="Merriweather"/>
              </a:rPr>
              <a:t>what to emphasize</a:t>
            </a:r>
          </a:p>
          <a:p>
            <a:pPr algn="just">
              <a:lnSpc>
                <a:spcPts val="4328"/>
              </a:lnSpc>
            </a:pPr>
            <a:endParaRPr lang="en-US" sz="3091" dirty="0">
              <a:solidFill>
                <a:srgbClr val="353534"/>
              </a:solidFill>
              <a:latin typeface="Merriweather"/>
              <a:ea typeface="Merriweather"/>
              <a:cs typeface="Merriweather"/>
              <a:sym typeface="Merriweather"/>
            </a:endParaRPr>
          </a:p>
          <a:p>
            <a:pPr algn="just">
              <a:lnSpc>
                <a:spcPts val="4328"/>
              </a:lnSpc>
              <a:spcBef>
                <a:spcPct val="0"/>
              </a:spcBef>
            </a:pPr>
            <a:endParaRPr lang="en-US" sz="3091" dirty="0">
              <a:solidFill>
                <a:srgbClr val="353534"/>
              </a:solidFill>
              <a:latin typeface="Merriweather"/>
              <a:ea typeface="Merriweather"/>
              <a:cs typeface="Merriweather"/>
              <a:sym typeface="Merriweather"/>
            </a:endParaRPr>
          </a:p>
        </p:txBody>
      </p:sp>
      <p:grpSp>
        <p:nvGrpSpPr>
          <p:cNvPr id="8" name="Group 8"/>
          <p:cNvGrpSpPr/>
          <p:nvPr/>
        </p:nvGrpSpPr>
        <p:grpSpPr>
          <a:xfrm>
            <a:off x="16207299"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2" name="Freeform 12"/>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207299"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0" name="Freeform 10"/>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2286194" y="876300"/>
            <a:ext cx="13316628" cy="2787649"/>
          </a:xfrm>
          <a:prstGeom prst="rect">
            <a:avLst/>
          </a:prstGeom>
        </p:spPr>
        <p:txBody>
          <a:bodyPr lIns="0" tIns="0" rIns="0" bIns="0" rtlCol="0" anchor="t">
            <a:spAutoFit/>
          </a:bodyPr>
          <a:lstStyle/>
          <a:p>
            <a:pPr algn="ctr">
              <a:lnSpc>
                <a:spcPts val="11200"/>
              </a:lnSpc>
            </a:pPr>
            <a:r>
              <a:rPr lang="en-US" sz="8000" dirty="0">
                <a:solidFill>
                  <a:srgbClr val="353534"/>
                </a:solidFill>
                <a:latin typeface="Abril Fatface"/>
                <a:ea typeface="Abril Fatface"/>
                <a:cs typeface="Abril Fatface"/>
                <a:sym typeface="Abril Fatface"/>
              </a:rPr>
              <a:t>PROPOSED </a:t>
            </a:r>
          </a:p>
          <a:p>
            <a:pPr algn="ctr">
              <a:lnSpc>
                <a:spcPts val="11200"/>
              </a:lnSpc>
              <a:spcBef>
                <a:spcPct val="0"/>
              </a:spcBef>
            </a:pPr>
            <a:r>
              <a:rPr lang="en-US" sz="8000" dirty="0">
                <a:solidFill>
                  <a:srgbClr val="353534"/>
                </a:solidFill>
                <a:latin typeface="Abril Fatface"/>
                <a:ea typeface="Abril Fatface"/>
                <a:cs typeface="Abril Fatface"/>
                <a:sym typeface="Abril Fatface"/>
              </a:rPr>
              <a:t>M-START ARCHITECTURE</a:t>
            </a:r>
          </a:p>
        </p:txBody>
      </p:sp>
      <p:pic>
        <p:nvPicPr>
          <p:cNvPr id="16" name="Picture 15">
            <a:extLst>
              <a:ext uri="{FF2B5EF4-FFF2-40B4-BE49-F238E27FC236}">
                <a16:creationId xmlns:a16="http://schemas.microsoft.com/office/drawing/2014/main" id="{1A1DC702-B042-6439-5ED5-B6E4F9082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2317" y="3791834"/>
            <a:ext cx="16003365" cy="46339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664193" y="4261853"/>
            <a:ext cx="4787530" cy="1047750"/>
          </a:xfrm>
          <a:prstGeom prst="rect">
            <a:avLst/>
          </a:prstGeom>
        </p:spPr>
        <p:txBody>
          <a:bodyPr lIns="0" tIns="0" rIns="0" bIns="0" rtlCol="0" anchor="t">
            <a:spAutoFit/>
          </a:bodyPr>
          <a:lstStyle/>
          <a:p>
            <a:pPr algn="ctr">
              <a:lnSpc>
                <a:spcPts val="4200"/>
              </a:lnSpc>
            </a:pPr>
            <a:r>
              <a:rPr lang="en-US" sz="3000">
                <a:solidFill>
                  <a:srgbClr val="353534"/>
                </a:solidFill>
                <a:latin typeface="Merriweather"/>
                <a:ea typeface="Merriweather"/>
                <a:cs typeface="Merriweather"/>
                <a:sym typeface="Merriweather"/>
              </a:rPr>
              <a:t>Data preprocessing</a:t>
            </a:r>
          </a:p>
          <a:p>
            <a:pPr algn="ctr">
              <a:lnSpc>
                <a:spcPts val="4200"/>
              </a:lnSpc>
            </a:pPr>
            <a:endParaRPr lang="en-US" sz="3000">
              <a:solidFill>
                <a:srgbClr val="353534"/>
              </a:solidFill>
              <a:latin typeface="Merriweather"/>
              <a:ea typeface="Merriweather"/>
              <a:cs typeface="Merriweather"/>
              <a:sym typeface="Merriweather"/>
            </a:endParaRPr>
          </a:p>
        </p:txBody>
      </p:sp>
      <p:sp>
        <p:nvSpPr>
          <p:cNvPr id="7" name="TextBox 7"/>
          <p:cNvSpPr txBox="1"/>
          <p:nvPr/>
        </p:nvSpPr>
        <p:spPr>
          <a:xfrm>
            <a:off x="2562814" y="6890753"/>
            <a:ext cx="4787530" cy="1064260"/>
          </a:xfrm>
          <a:prstGeom prst="rect">
            <a:avLst/>
          </a:prstGeom>
        </p:spPr>
        <p:txBody>
          <a:bodyPr lIns="0" tIns="0" rIns="0" bIns="0" rtlCol="0" anchor="t">
            <a:spAutoFit/>
          </a:bodyPr>
          <a:lstStyle/>
          <a:p>
            <a:pPr algn="ctr">
              <a:lnSpc>
                <a:spcPts val="4339"/>
              </a:lnSpc>
            </a:pPr>
            <a:r>
              <a:rPr lang="en-US" sz="3099">
                <a:solidFill>
                  <a:srgbClr val="353534"/>
                </a:solidFill>
                <a:latin typeface="Merriweather"/>
                <a:ea typeface="Merriweather"/>
                <a:cs typeface="Merriweather"/>
                <a:sym typeface="Merriweather"/>
              </a:rPr>
              <a:t>One-hot encoding of crime types</a:t>
            </a:r>
          </a:p>
        </p:txBody>
      </p:sp>
      <p:sp>
        <p:nvSpPr>
          <p:cNvPr id="8" name="TextBox 8"/>
          <p:cNvSpPr txBox="1"/>
          <p:nvPr/>
        </p:nvSpPr>
        <p:spPr>
          <a:xfrm>
            <a:off x="9958707" y="4261853"/>
            <a:ext cx="5291001" cy="1047750"/>
          </a:xfrm>
          <a:prstGeom prst="rect">
            <a:avLst/>
          </a:prstGeom>
        </p:spPr>
        <p:txBody>
          <a:bodyPr lIns="0" tIns="0" rIns="0" bIns="0" rtlCol="0" anchor="t">
            <a:spAutoFit/>
          </a:bodyPr>
          <a:lstStyle/>
          <a:p>
            <a:pPr algn="ctr">
              <a:lnSpc>
                <a:spcPts val="4200"/>
              </a:lnSpc>
            </a:pPr>
            <a:r>
              <a:rPr lang="en-US" sz="3000">
                <a:solidFill>
                  <a:srgbClr val="353534"/>
                </a:solidFill>
                <a:latin typeface="Merriweather"/>
                <a:ea typeface="Merriweather"/>
                <a:cs typeface="Merriweather"/>
                <a:sym typeface="Merriweather"/>
              </a:rPr>
              <a:t>STL decomposition</a:t>
            </a:r>
          </a:p>
          <a:p>
            <a:pPr algn="ctr">
              <a:lnSpc>
                <a:spcPts val="4200"/>
              </a:lnSpc>
            </a:pPr>
            <a:r>
              <a:rPr lang="en-US" sz="3000">
                <a:solidFill>
                  <a:srgbClr val="353534"/>
                </a:solidFill>
                <a:latin typeface="Merriweather"/>
                <a:ea typeface="Merriweather"/>
                <a:cs typeface="Merriweather"/>
                <a:sym typeface="Merriweather"/>
              </a:rPr>
              <a:t>Seasonal, Trend, Residual</a:t>
            </a:r>
          </a:p>
        </p:txBody>
      </p:sp>
      <p:sp>
        <p:nvSpPr>
          <p:cNvPr id="9" name="TextBox 9"/>
          <p:cNvSpPr txBox="1"/>
          <p:nvPr/>
        </p:nvSpPr>
        <p:spPr>
          <a:xfrm>
            <a:off x="2562814" y="2932606"/>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01</a:t>
            </a:r>
          </a:p>
        </p:txBody>
      </p:sp>
      <p:sp>
        <p:nvSpPr>
          <p:cNvPr id="10" name="TextBox 10"/>
          <p:cNvSpPr txBox="1"/>
          <p:nvPr/>
        </p:nvSpPr>
        <p:spPr>
          <a:xfrm>
            <a:off x="2562814" y="5557253"/>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02</a:t>
            </a:r>
          </a:p>
        </p:txBody>
      </p:sp>
      <p:sp>
        <p:nvSpPr>
          <p:cNvPr id="11" name="TextBox 11"/>
          <p:cNvSpPr txBox="1"/>
          <p:nvPr/>
        </p:nvSpPr>
        <p:spPr>
          <a:xfrm>
            <a:off x="10210442" y="2932606"/>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03</a:t>
            </a:r>
          </a:p>
        </p:txBody>
      </p:sp>
      <p:grpSp>
        <p:nvGrpSpPr>
          <p:cNvPr id="12" name="Group 12"/>
          <p:cNvGrpSpPr/>
          <p:nvPr/>
        </p:nvGrpSpPr>
        <p:grpSpPr>
          <a:xfrm>
            <a:off x="16226349" y="8764908"/>
            <a:ext cx="1061526" cy="3044184"/>
            <a:chOff x="0" y="0"/>
            <a:chExt cx="279579" cy="801760"/>
          </a:xfrm>
        </p:grpSpPr>
        <p:sp>
          <p:nvSpPr>
            <p:cNvPr id="13" name="Freeform 13"/>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4" name="TextBox 14"/>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611346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05</a:t>
            </a:r>
          </a:p>
        </p:txBody>
      </p:sp>
      <p:sp>
        <p:nvSpPr>
          <p:cNvPr id="16" name="Freeform 16"/>
          <p:cNvSpPr/>
          <p:nvPr/>
        </p:nvSpPr>
        <p:spPr>
          <a:xfrm rot="-10800000">
            <a:off x="1265489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2286194" y="876300"/>
            <a:ext cx="13316628"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METHODOLOGY</a:t>
            </a:r>
          </a:p>
        </p:txBody>
      </p:sp>
      <p:sp>
        <p:nvSpPr>
          <p:cNvPr id="18" name="TextBox 18"/>
          <p:cNvSpPr txBox="1"/>
          <p:nvPr/>
        </p:nvSpPr>
        <p:spPr>
          <a:xfrm>
            <a:off x="10210442" y="7143113"/>
            <a:ext cx="4787530" cy="1047750"/>
          </a:xfrm>
          <a:prstGeom prst="rect">
            <a:avLst/>
          </a:prstGeom>
        </p:spPr>
        <p:txBody>
          <a:bodyPr lIns="0" tIns="0" rIns="0" bIns="0" rtlCol="0" anchor="t">
            <a:spAutoFit/>
          </a:bodyPr>
          <a:lstStyle/>
          <a:p>
            <a:pPr algn="ctr">
              <a:lnSpc>
                <a:spcPts val="4200"/>
              </a:lnSpc>
            </a:pPr>
            <a:r>
              <a:rPr lang="en-US" sz="3000">
                <a:solidFill>
                  <a:srgbClr val="353534"/>
                </a:solidFill>
                <a:latin typeface="Merriweather"/>
                <a:ea typeface="Merriweather"/>
                <a:cs typeface="Merriweather"/>
                <a:sym typeface="Merriweather"/>
              </a:rPr>
              <a:t>Residual sent to Mamba encoder</a:t>
            </a:r>
          </a:p>
        </p:txBody>
      </p:sp>
      <p:sp>
        <p:nvSpPr>
          <p:cNvPr id="19" name="TextBox 19"/>
          <p:cNvSpPr txBox="1"/>
          <p:nvPr/>
        </p:nvSpPr>
        <p:spPr>
          <a:xfrm>
            <a:off x="10311821" y="5600063"/>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207299"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0" name="Freeform 10"/>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286194" y="1426315"/>
            <a:ext cx="13316628"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MAMBA ENCODER</a:t>
            </a:r>
          </a:p>
        </p:txBody>
      </p:sp>
      <p:sp>
        <p:nvSpPr>
          <p:cNvPr id="12" name="TextBox 12"/>
          <p:cNvSpPr txBox="1"/>
          <p:nvPr/>
        </p:nvSpPr>
        <p:spPr>
          <a:xfrm>
            <a:off x="4364367" y="3205375"/>
            <a:ext cx="10390612" cy="4248150"/>
          </a:xfrm>
          <a:prstGeom prst="rect">
            <a:avLst/>
          </a:prstGeom>
        </p:spPr>
        <p:txBody>
          <a:bodyPr lIns="0" tIns="0" rIns="0" bIns="0" rtlCol="0" anchor="t">
            <a:spAutoFit/>
          </a:bodyPr>
          <a:lstStyle/>
          <a:p>
            <a:pPr marL="647700" lvl="1" indent="-323850" algn="l">
              <a:lnSpc>
                <a:spcPts val="4200"/>
              </a:lnSpc>
              <a:buAutoNum type="arabicPeriod"/>
            </a:pPr>
            <a:r>
              <a:rPr lang="en-US" sz="3000">
                <a:solidFill>
                  <a:srgbClr val="353534"/>
                </a:solidFill>
                <a:latin typeface="Merriweather"/>
                <a:ea typeface="Merriweather"/>
                <a:cs typeface="Merriweather"/>
                <a:sym typeface="Merriweather"/>
              </a:rPr>
              <a:t>Captures long-term dependencies</a:t>
            </a:r>
          </a:p>
          <a:p>
            <a:pPr marL="647700" lvl="1" indent="-323850" algn="l">
              <a:lnSpc>
                <a:spcPts val="4200"/>
              </a:lnSpc>
              <a:buAutoNum type="arabicPeriod"/>
            </a:pPr>
            <a:r>
              <a:rPr lang="en-US" sz="3000">
                <a:solidFill>
                  <a:srgbClr val="353534"/>
                </a:solidFill>
                <a:latin typeface="Merriweather"/>
                <a:ea typeface="Merriweather"/>
                <a:cs typeface="Merriweather"/>
                <a:sym typeface="Merriweather"/>
              </a:rPr>
              <a:t>Linear-time sequence processing</a:t>
            </a:r>
          </a:p>
          <a:p>
            <a:pPr marL="647700" lvl="1" indent="-323850" algn="l">
              <a:lnSpc>
                <a:spcPts val="4200"/>
              </a:lnSpc>
              <a:buAutoNum type="arabicPeriod"/>
            </a:pPr>
            <a:r>
              <a:rPr lang="en-US" sz="3000">
                <a:solidFill>
                  <a:srgbClr val="353534"/>
                </a:solidFill>
                <a:latin typeface="Merriweather"/>
                <a:ea typeface="Merriweather"/>
                <a:cs typeface="Merriweather"/>
                <a:sym typeface="Merriweather"/>
              </a:rPr>
              <a:t> Lower computational cost</a:t>
            </a:r>
          </a:p>
          <a:p>
            <a:pPr marL="647700" lvl="1" indent="-323850" algn="l">
              <a:lnSpc>
                <a:spcPts val="4200"/>
              </a:lnSpc>
              <a:buAutoNum type="arabicPeriod"/>
            </a:pPr>
            <a:r>
              <a:rPr lang="en-US" sz="3000">
                <a:solidFill>
                  <a:srgbClr val="353534"/>
                </a:solidFill>
                <a:latin typeface="Merriweather"/>
                <a:ea typeface="Merriweather"/>
                <a:cs typeface="Merriweather"/>
                <a:sym typeface="Merriweather"/>
              </a:rPr>
              <a:t>Hardware-efficient parallel scan</a:t>
            </a:r>
          </a:p>
          <a:p>
            <a:pPr algn="ctr">
              <a:lnSpc>
                <a:spcPts val="4200"/>
              </a:lnSpc>
              <a:spcBef>
                <a:spcPct val="0"/>
              </a:spcBef>
            </a:pPr>
            <a:endParaRPr lang="en-US" sz="3000">
              <a:solidFill>
                <a:srgbClr val="353534"/>
              </a:solidFill>
              <a:latin typeface="Merriweather"/>
              <a:ea typeface="Merriweather"/>
              <a:cs typeface="Merriweather"/>
              <a:sym typeface="Merriweather"/>
            </a:endParaRPr>
          </a:p>
          <a:p>
            <a:pPr algn="l">
              <a:lnSpc>
                <a:spcPts val="4200"/>
              </a:lnSpc>
              <a:spcBef>
                <a:spcPct val="0"/>
              </a:spcBef>
            </a:pPr>
            <a:r>
              <a:rPr lang="en-US" sz="3000">
                <a:solidFill>
                  <a:srgbClr val="353534"/>
                </a:solidFill>
                <a:latin typeface="Merriweather"/>
                <a:ea typeface="Merriweather"/>
                <a:cs typeface="Merriweather"/>
                <a:sym typeface="Merriweather"/>
              </a:rPr>
              <a:t>Complexity:</a:t>
            </a:r>
          </a:p>
          <a:p>
            <a:pPr marL="1295400" lvl="2" indent="-431800" algn="l">
              <a:lnSpc>
                <a:spcPts val="4200"/>
              </a:lnSpc>
              <a:buFont typeface="Arial"/>
              <a:buChar char="⚬"/>
            </a:pPr>
            <a:r>
              <a:rPr lang="en-US" sz="3000">
                <a:solidFill>
                  <a:srgbClr val="353534"/>
                </a:solidFill>
                <a:latin typeface="Merriweather"/>
                <a:ea typeface="Merriweather"/>
                <a:cs typeface="Merriweather"/>
                <a:sym typeface="Merriweather"/>
              </a:rPr>
              <a:t>Transformer: O(n²)</a:t>
            </a:r>
          </a:p>
          <a:p>
            <a:pPr marL="1295400" lvl="2" indent="-431800" algn="l">
              <a:lnSpc>
                <a:spcPts val="4200"/>
              </a:lnSpc>
              <a:buFont typeface="Arial"/>
              <a:buChar char="⚬"/>
            </a:pPr>
            <a:r>
              <a:rPr lang="en-US" sz="3000">
                <a:solidFill>
                  <a:srgbClr val="353534"/>
                </a:solidFill>
                <a:latin typeface="Merriweather"/>
                <a:ea typeface="Merriweather"/>
                <a:cs typeface="Merriweather"/>
                <a:sym typeface="Merriweather"/>
              </a:rPr>
              <a:t>Mamba:  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207299"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0" name="Freeform 10"/>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286194" y="1894101"/>
            <a:ext cx="13316628"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VAR AND SPATIAL FUSION</a:t>
            </a:r>
          </a:p>
        </p:txBody>
      </p:sp>
      <p:sp>
        <p:nvSpPr>
          <p:cNvPr id="12" name="TextBox 12"/>
          <p:cNvSpPr txBox="1"/>
          <p:nvPr/>
        </p:nvSpPr>
        <p:spPr>
          <a:xfrm>
            <a:off x="2815205" y="3632566"/>
            <a:ext cx="12258605" cy="4766763"/>
          </a:xfrm>
          <a:prstGeom prst="rect">
            <a:avLst/>
          </a:prstGeom>
        </p:spPr>
        <p:txBody>
          <a:bodyPr lIns="0" tIns="0" rIns="0" bIns="0" rtlCol="0" anchor="t">
            <a:spAutoFit/>
          </a:bodyPr>
          <a:lstStyle/>
          <a:p>
            <a:pPr algn="ctr">
              <a:lnSpc>
                <a:spcPts val="2680"/>
              </a:lnSpc>
            </a:pPr>
            <a:endParaRPr/>
          </a:p>
          <a:p>
            <a:pPr algn="l">
              <a:lnSpc>
                <a:spcPts val="5039"/>
              </a:lnSpc>
            </a:pPr>
            <a:r>
              <a:rPr lang="en-US" sz="3599" b="1">
                <a:solidFill>
                  <a:srgbClr val="353534"/>
                </a:solidFill>
                <a:latin typeface="Merriweather Bold"/>
                <a:ea typeface="Merriweather Bold"/>
                <a:cs typeface="Merriweather Bold"/>
                <a:sym typeface="Merriweather Bold"/>
              </a:rPr>
              <a:t>VAR Module</a:t>
            </a:r>
          </a:p>
          <a:p>
            <a:pPr marL="647700" lvl="1" indent="-323850" algn="l">
              <a:lnSpc>
                <a:spcPts val="4200"/>
              </a:lnSpc>
              <a:buFont typeface="Arial"/>
              <a:buChar char="•"/>
            </a:pPr>
            <a:r>
              <a:rPr lang="en-US" sz="3000">
                <a:solidFill>
                  <a:srgbClr val="353534"/>
                </a:solidFill>
                <a:latin typeface="Merriweather"/>
                <a:ea typeface="Merriweather"/>
                <a:cs typeface="Merriweather"/>
                <a:sym typeface="Merriweather"/>
              </a:rPr>
              <a:t> Models relationships among multiple crime types.</a:t>
            </a:r>
          </a:p>
          <a:p>
            <a:pPr marL="647700" lvl="1" indent="-323850" algn="l">
              <a:lnSpc>
                <a:spcPts val="4200"/>
              </a:lnSpc>
              <a:buFont typeface="Arial"/>
              <a:buChar char="•"/>
            </a:pPr>
            <a:r>
              <a:rPr lang="en-US" sz="3000">
                <a:solidFill>
                  <a:srgbClr val="353534"/>
                </a:solidFill>
                <a:latin typeface="Merriweather"/>
                <a:ea typeface="Merriweather"/>
                <a:cs typeface="Merriweather"/>
                <a:sym typeface="Merriweather"/>
              </a:rPr>
              <a:t> Captures cross-crime dependencies.</a:t>
            </a:r>
          </a:p>
          <a:p>
            <a:pPr algn="ctr">
              <a:lnSpc>
                <a:spcPts val="4200"/>
              </a:lnSpc>
              <a:spcBef>
                <a:spcPct val="0"/>
              </a:spcBef>
            </a:pPr>
            <a:endParaRPr lang="en-US" sz="3000">
              <a:solidFill>
                <a:srgbClr val="353534"/>
              </a:solidFill>
              <a:latin typeface="Merriweather"/>
              <a:ea typeface="Merriweather"/>
              <a:cs typeface="Merriweather"/>
              <a:sym typeface="Merriweather"/>
            </a:endParaRPr>
          </a:p>
          <a:p>
            <a:pPr algn="l">
              <a:lnSpc>
                <a:spcPts val="4899"/>
              </a:lnSpc>
              <a:spcBef>
                <a:spcPct val="0"/>
              </a:spcBef>
            </a:pPr>
            <a:r>
              <a:rPr lang="en-US" sz="3499" b="1">
                <a:solidFill>
                  <a:srgbClr val="353534"/>
                </a:solidFill>
                <a:latin typeface="Merriweather Bold"/>
                <a:ea typeface="Merriweather Bold"/>
                <a:cs typeface="Merriweather Bold"/>
                <a:sym typeface="Merriweather Bold"/>
              </a:rPr>
              <a:t>Spatial Fusion</a:t>
            </a:r>
          </a:p>
          <a:p>
            <a:pPr marL="647700" lvl="1" indent="-323850" algn="l">
              <a:lnSpc>
                <a:spcPts val="4200"/>
              </a:lnSpc>
              <a:buFont typeface="Arial"/>
              <a:buChar char="•"/>
            </a:pPr>
            <a:r>
              <a:rPr lang="en-US" sz="3000">
                <a:solidFill>
                  <a:srgbClr val="353534"/>
                </a:solidFill>
                <a:latin typeface="Merriweather"/>
                <a:ea typeface="Merriweather"/>
                <a:cs typeface="Merriweather"/>
                <a:sym typeface="Merriweather"/>
              </a:rPr>
              <a:t>Uses geographic information.</a:t>
            </a:r>
          </a:p>
          <a:p>
            <a:pPr marL="647700" lvl="1" indent="-323850" algn="l">
              <a:lnSpc>
                <a:spcPts val="4200"/>
              </a:lnSpc>
              <a:buFont typeface="Arial"/>
              <a:buChar char="•"/>
            </a:pPr>
            <a:r>
              <a:rPr lang="en-US" sz="3000">
                <a:solidFill>
                  <a:srgbClr val="353534"/>
                </a:solidFill>
                <a:latin typeface="Merriweather"/>
                <a:ea typeface="Merriweather"/>
                <a:cs typeface="Merriweather"/>
                <a:sym typeface="Merriweather"/>
              </a:rPr>
              <a:t> Models neighborhood crime influence.</a:t>
            </a:r>
          </a:p>
          <a:p>
            <a:pPr marL="647700" lvl="1" indent="-323850" algn="l">
              <a:lnSpc>
                <a:spcPts val="4200"/>
              </a:lnSpc>
              <a:buFont typeface="Arial"/>
              <a:buChar char="•"/>
            </a:pPr>
            <a:r>
              <a:rPr lang="en-US" sz="3000">
                <a:solidFill>
                  <a:srgbClr val="353534"/>
                </a:solidFill>
                <a:latin typeface="Merriweather"/>
                <a:ea typeface="Merriweather"/>
                <a:cs typeface="Merriweather"/>
                <a:sym typeface="Merriweather"/>
              </a:rPr>
              <a:t> Improves prediction accuracy.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207299"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0" name="Freeform 10"/>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12" name="Object 12"/>
          <p:cNvGraphicFramePr/>
          <p:nvPr>
            <p:extLst>
              <p:ext uri="{D42A27DB-BD31-4B8C-83A1-F6EECF244321}">
                <p14:modId xmlns:p14="http://schemas.microsoft.com/office/powerpoint/2010/main" val="1945337573"/>
              </p:ext>
            </p:extLst>
          </p:nvPr>
        </p:nvGraphicFramePr>
        <p:xfrm>
          <a:off x="2052483" y="4163034"/>
          <a:ext cx="15697200" cy="5587963"/>
        </p:xfrm>
        <a:graphic>
          <a:graphicData uri="http://schemas.openxmlformats.org/presentationml/2006/ole">
            <mc:AlternateContent xmlns:mc="http://schemas.openxmlformats.org/markup-compatibility/2006">
              <mc:Choice xmlns:v="urn:schemas-microsoft-com:vml" Requires="v">
                <p:oleObj name="Worksheet" r:id="rId6" imgW="13062012" imgH="5822957" progId="Excel.Sheet.12">
                  <p:embed/>
                </p:oleObj>
              </mc:Choice>
              <mc:Fallback>
                <p:oleObj name="Worksheet" r:id="rId6" imgW="13062012" imgH="5822957" progId="Excel.Sheet.12">
                  <p:embed/>
                  <p:pic>
                    <p:nvPicPr>
                      <p:cNvPr id="0" name=""/>
                      <p:cNvPicPr/>
                      <p:nvPr/>
                    </p:nvPicPr>
                    <p:blipFill>
                      <a:blip r:embed="rId7"/>
                      <a:stretch>
                        <a:fillRect/>
                      </a:stretch>
                    </p:blipFill>
                    <p:spPr>
                      <a:xfrm>
                        <a:off x="2052483" y="4163034"/>
                        <a:ext cx="15697200" cy="5587963"/>
                      </a:xfrm>
                      <a:prstGeom prst="rect">
                        <a:avLst/>
                      </a:prstGeom>
                      <a:ln>
                        <a:noFill/>
                      </a:ln>
                    </p:spPr>
                  </p:pic>
                </p:oleObj>
              </mc:Fallback>
            </mc:AlternateContent>
          </a:graphicData>
        </a:graphic>
      </p:graphicFrame>
      <p:sp>
        <p:nvSpPr>
          <p:cNvPr id="13" name="TextBox 13"/>
          <p:cNvSpPr txBox="1"/>
          <p:nvPr/>
        </p:nvSpPr>
        <p:spPr>
          <a:xfrm>
            <a:off x="2286194" y="876300"/>
            <a:ext cx="13316628" cy="2787649"/>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COMPUTATIONAL COMPLEXITY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79643" y="1627693"/>
            <a:ext cx="15528713"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EXPERIMENTAL PROCESS</a:t>
            </a:r>
          </a:p>
        </p:txBody>
      </p:sp>
      <p:sp>
        <p:nvSpPr>
          <p:cNvPr id="7" name="TextBox 7"/>
          <p:cNvSpPr txBox="1"/>
          <p:nvPr/>
        </p:nvSpPr>
        <p:spPr>
          <a:xfrm>
            <a:off x="491159" y="4142101"/>
            <a:ext cx="4787530" cy="2647950"/>
          </a:xfrm>
          <a:prstGeom prst="rect">
            <a:avLst/>
          </a:prstGeom>
        </p:spPr>
        <p:txBody>
          <a:bodyPr lIns="0" tIns="0" rIns="0" bIns="0" rtlCol="0" anchor="t">
            <a:spAutoFit/>
          </a:bodyPr>
          <a:lstStyle/>
          <a:p>
            <a:pPr algn="ctr">
              <a:lnSpc>
                <a:spcPts val="4200"/>
              </a:lnSpc>
            </a:pPr>
            <a:endParaRPr dirty="0"/>
          </a:p>
          <a:p>
            <a:pPr algn="ctr">
              <a:lnSpc>
                <a:spcPts val="4200"/>
              </a:lnSpc>
            </a:pPr>
            <a:endParaRPr dirty="0"/>
          </a:p>
          <a:p>
            <a:pPr algn="ctr">
              <a:lnSpc>
                <a:spcPts val="4200"/>
              </a:lnSpc>
            </a:pPr>
            <a:r>
              <a:rPr lang="en-US" sz="3000" dirty="0">
                <a:solidFill>
                  <a:srgbClr val="353534"/>
                </a:solidFill>
                <a:latin typeface="Merriweather"/>
                <a:ea typeface="Merriweather"/>
                <a:cs typeface="Merriweather"/>
                <a:sym typeface="Merriweather"/>
              </a:rPr>
              <a:t>New York</a:t>
            </a:r>
          </a:p>
          <a:p>
            <a:pPr algn="ctr">
              <a:lnSpc>
                <a:spcPts val="4200"/>
              </a:lnSpc>
            </a:pPr>
            <a:r>
              <a:rPr lang="en-US" sz="3000" dirty="0">
                <a:solidFill>
                  <a:srgbClr val="353534"/>
                </a:solidFill>
                <a:latin typeface="Merriweather"/>
                <a:ea typeface="Merriweather"/>
                <a:cs typeface="Merriweather"/>
                <a:sym typeface="Merriweather"/>
              </a:rPr>
              <a:t>Chicago</a:t>
            </a:r>
          </a:p>
          <a:p>
            <a:pPr algn="ctr">
              <a:lnSpc>
                <a:spcPts val="4200"/>
              </a:lnSpc>
            </a:pPr>
            <a:r>
              <a:rPr lang="en-US" sz="3000" dirty="0">
                <a:solidFill>
                  <a:srgbClr val="353534"/>
                </a:solidFill>
                <a:latin typeface="Merriweather"/>
                <a:ea typeface="Merriweather"/>
                <a:cs typeface="Merriweather"/>
                <a:sym typeface="Merriweather"/>
              </a:rPr>
              <a:t>Los Angeles</a:t>
            </a:r>
          </a:p>
        </p:txBody>
      </p:sp>
      <p:sp>
        <p:nvSpPr>
          <p:cNvPr id="8" name="TextBox 8"/>
          <p:cNvSpPr txBox="1"/>
          <p:nvPr/>
        </p:nvSpPr>
        <p:spPr>
          <a:xfrm>
            <a:off x="6399292" y="5241921"/>
            <a:ext cx="4787530" cy="1581150"/>
          </a:xfrm>
          <a:prstGeom prst="rect">
            <a:avLst/>
          </a:prstGeom>
        </p:spPr>
        <p:txBody>
          <a:bodyPr lIns="0" tIns="0" rIns="0" bIns="0" rtlCol="0" anchor="t">
            <a:spAutoFit/>
          </a:bodyPr>
          <a:lstStyle/>
          <a:p>
            <a:pPr algn="ctr">
              <a:lnSpc>
                <a:spcPts val="4200"/>
              </a:lnSpc>
            </a:pPr>
            <a:r>
              <a:rPr lang="en-US" sz="3000">
                <a:solidFill>
                  <a:srgbClr val="353534"/>
                </a:solidFill>
                <a:latin typeface="Merriweather"/>
                <a:ea typeface="Merriweather"/>
                <a:cs typeface="Merriweather"/>
                <a:sym typeface="Merriweather"/>
              </a:rPr>
              <a:t>MAE</a:t>
            </a:r>
          </a:p>
          <a:p>
            <a:pPr algn="ctr">
              <a:lnSpc>
                <a:spcPts val="4200"/>
              </a:lnSpc>
            </a:pPr>
            <a:r>
              <a:rPr lang="en-US" sz="3000">
                <a:solidFill>
                  <a:srgbClr val="353534"/>
                </a:solidFill>
                <a:latin typeface="Merriweather"/>
                <a:ea typeface="Merriweather"/>
                <a:cs typeface="Merriweather"/>
                <a:sym typeface="Merriweather"/>
              </a:rPr>
              <a:t> RMSE</a:t>
            </a:r>
          </a:p>
          <a:p>
            <a:pPr algn="ctr">
              <a:lnSpc>
                <a:spcPts val="4200"/>
              </a:lnSpc>
            </a:pPr>
            <a:r>
              <a:rPr lang="en-US" sz="3000">
                <a:solidFill>
                  <a:srgbClr val="353534"/>
                </a:solidFill>
                <a:latin typeface="Merriweather"/>
                <a:ea typeface="Merriweather"/>
                <a:cs typeface="Merriweather"/>
                <a:sym typeface="Merriweather"/>
              </a:rPr>
              <a:t>MAPE</a:t>
            </a:r>
          </a:p>
        </p:txBody>
      </p:sp>
      <p:sp>
        <p:nvSpPr>
          <p:cNvPr id="9" name="TextBox 9"/>
          <p:cNvSpPr txBox="1"/>
          <p:nvPr/>
        </p:nvSpPr>
        <p:spPr>
          <a:xfrm>
            <a:off x="12051621" y="5208901"/>
            <a:ext cx="4787530" cy="1581150"/>
          </a:xfrm>
          <a:prstGeom prst="rect">
            <a:avLst/>
          </a:prstGeom>
        </p:spPr>
        <p:txBody>
          <a:bodyPr lIns="0" tIns="0" rIns="0" bIns="0" rtlCol="0" anchor="t">
            <a:spAutoFit/>
          </a:bodyPr>
          <a:lstStyle/>
          <a:p>
            <a:pPr algn="ctr">
              <a:lnSpc>
                <a:spcPts val="4200"/>
              </a:lnSpc>
            </a:pPr>
            <a:r>
              <a:rPr lang="en-US" sz="3000">
                <a:solidFill>
                  <a:srgbClr val="353534"/>
                </a:solidFill>
                <a:latin typeface="Merriweather"/>
                <a:ea typeface="Merriweather"/>
                <a:cs typeface="Merriweather"/>
                <a:sym typeface="Merriweather"/>
              </a:rPr>
              <a:t> DeepCrime, STTRE</a:t>
            </a:r>
          </a:p>
          <a:p>
            <a:pPr algn="ctr">
              <a:lnSpc>
                <a:spcPts val="4200"/>
              </a:lnSpc>
            </a:pPr>
            <a:r>
              <a:rPr lang="en-US" sz="3000">
                <a:solidFill>
                  <a:srgbClr val="353534"/>
                </a:solidFill>
                <a:latin typeface="Merriweather"/>
                <a:ea typeface="Merriweather"/>
                <a:cs typeface="Merriweather"/>
                <a:sym typeface="Merriweather"/>
              </a:rPr>
              <a:t>STtrans, STCTN</a:t>
            </a:r>
          </a:p>
          <a:p>
            <a:pPr algn="ctr">
              <a:lnSpc>
                <a:spcPts val="4200"/>
              </a:lnSpc>
            </a:pPr>
            <a:r>
              <a:rPr lang="en-US" sz="3000">
                <a:solidFill>
                  <a:srgbClr val="353534"/>
                </a:solidFill>
                <a:latin typeface="Merriweather"/>
                <a:ea typeface="Merriweather"/>
                <a:cs typeface="Merriweather"/>
                <a:sym typeface="Merriweather"/>
              </a:rPr>
              <a:t> START, S-Mamba</a:t>
            </a:r>
          </a:p>
        </p:txBody>
      </p:sp>
      <p:sp>
        <p:nvSpPr>
          <p:cNvPr id="10" name="TextBox 10"/>
          <p:cNvSpPr txBox="1"/>
          <p:nvPr/>
        </p:nvSpPr>
        <p:spPr>
          <a:xfrm>
            <a:off x="347640" y="4371976"/>
            <a:ext cx="4888908" cy="771524"/>
          </a:xfrm>
          <a:prstGeom prst="rect">
            <a:avLst/>
          </a:prstGeom>
        </p:spPr>
        <p:txBody>
          <a:bodyPr lIns="0" tIns="0" rIns="0" bIns="0" rtlCol="0" anchor="t">
            <a:spAutoFit/>
          </a:bodyPr>
          <a:lstStyle/>
          <a:p>
            <a:pPr algn="ctr">
              <a:lnSpc>
                <a:spcPts val="6300"/>
              </a:lnSpc>
              <a:spcBef>
                <a:spcPct val="0"/>
              </a:spcBef>
            </a:pPr>
            <a:r>
              <a:rPr lang="en-US" sz="4500" dirty="0">
                <a:solidFill>
                  <a:srgbClr val="353534"/>
                </a:solidFill>
                <a:latin typeface="Abril Fatface"/>
                <a:ea typeface="Abril Fatface"/>
                <a:cs typeface="Abril Fatface"/>
                <a:sym typeface="Abril Fatface"/>
              </a:rPr>
              <a:t> DATASETS</a:t>
            </a:r>
          </a:p>
        </p:txBody>
      </p:sp>
      <p:sp>
        <p:nvSpPr>
          <p:cNvPr id="11" name="TextBox 11"/>
          <p:cNvSpPr txBox="1"/>
          <p:nvPr/>
        </p:nvSpPr>
        <p:spPr>
          <a:xfrm>
            <a:off x="4530664" y="4394555"/>
            <a:ext cx="8524784" cy="771524"/>
          </a:xfrm>
          <a:prstGeom prst="rect">
            <a:avLst/>
          </a:prstGeom>
        </p:spPr>
        <p:txBody>
          <a:bodyPr lIns="0" tIns="0" rIns="0" bIns="0" rtlCol="0" anchor="t">
            <a:spAutoFit/>
          </a:bodyPr>
          <a:lstStyle/>
          <a:p>
            <a:pPr algn="ctr">
              <a:lnSpc>
                <a:spcPts val="6300"/>
              </a:lnSpc>
              <a:spcBef>
                <a:spcPct val="0"/>
              </a:spcBef>
            </a:pPr>
            <a:r>
              <a:rPr lang="en-US" sz="4500">
                <a:solidFill>
                  <a:srgbClr val="353534"/>
                </a:solidFill>
                <a:latin typeface="Abril Fatface"/>
                <a:ea typeface="Abril Fatface"/>
                <a:cs typeface="Abril Fatface"/>
                <a:sym typeface="Abril Fatface"/>
              </a:rPr>
              <a:t>EVL. METRICS</a:t>
            </a:r>
          </a:p>
        </p:txBody>
      </p:sp>
      <p:sp>
        <p:nvSpPr>
          <p:cNvPr id="12" name="TextBox 12"/>
          <p:cNvSpPr txBox="1"/>
          <p:nvPr/>
        </p:nvSpPr>
        <p:spPr>
          <a:xfrm>
            <a:off x="11461287" y="4371976"/>
            <a:ext cx="6946951" cy="771524"/>
          </a:xfrm>
          <a:prstGeom prst="rect">
            <a:avLst/>
          </a:prstGeom>
        </p:spPr>
        <p:txBody>
          <a:bodyPr lIns="0" tIns="0" rIns="0" bIns="0" rtlCol="0" anchor="t">
            <a:spAutoFit/>
          </a:bodyPr>
          <a:lstStyle/>
          <a:p>
            <a:pPr algn="ctr">
              <a:lnSpc>
                <a:spcPts val="6300"/>
              </a:lnSpc>
              <a:spcBef>
                <a:spcPct val="0"/>
              </a:spcBef>
            </a:pPr>
            <a:r>
              <a:rPr lang="en-US" sz="4500">
                <a:solidFill>
                  <a:srgbClr val="353534"/>
                </a:solidFill>
                <a:latin typeface="Abril Fatface"/>
                <a:ea typeface="Abril Fatface"/>
                <a:cs typeface="Abril Fatface"/>
                <a:sym typeface="Abril Fatface"/>
              </a:rPr>
              <a:t>BASELINE MODELS</a:t>
            </a:r>
          </a:p>
        </p:txBody>
      </p:sp>
      <p:grpSp>
        <p:nvGrpSpPr>
          <p:cNvPr id="13" name="Group 13"/>
          <p:cNvGrpSpPr/>
          <p:nvPr/>
        </p:nvGrpSpPr>
        <p:grpSpPr>
          <a:xfrm>
            <a:off x="16226349" y="8764908"/>
            <a:ext cx="1061526" cy="3044184"/>
            <a:chOff x="0" y="0"/>
            <a:chExt cx="279579" cy="801760"/>
          </a:xfrm>
        </p:grpSpPr>
        <p:sp>
          <p:nvSpPr>
            <p:cNvPr id="14" name="Freeform 14"/>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5" name="TextBox 15"/>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611346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05</a:t>
            </a:r>
          </a:p>
        </p:txBody>
      </p:sp>
      <p:sp>
        <p:nvSpPr>
          <p:cNvPr id="17" name="Freeform 17"/>
          <p:cNvSpPr/>
          <p:nvPr/>
        </p:nvSpPr>
        <p:spPr>
          <a:xfrm rot="-10800000">
            <a:off x="1265489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ANALYSIS</a:t>
            </a:r>
          </a:p>
        </p:txBody>
      </p:sp>
      <p:grpSp>
        <p:nvGrpSpPr>
          <p:cNvPr id="7" name="Group 7"/>
          <p:cNvGrpSpPr/>
          <p:nvPr/>
        </p:nvGrpSpPr>
        <p:grpSpPr>
          <a:xfrm>
            <a:off x="16197774" y="8764908"/>
            <a:ext cx="1061526" cy="3044184"/>
            <a:chOff x="0" y="0"/>
            <a:chExt cx="279579" cy="801760"/>
          </a:xfrm>
        </p:grpSpPr>
        <p:sp>
          <p:nvSpPr>
            <p:cNvPr id="8" name="Freeform 8"/>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9" name="TextBox 9"/>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07</a:t>
            </a:r>
          </a:p>
        </p:txBody>
      </p:sp>
      <p:sp>
        <p:nvSpPr>
          <p:cNvPr id="11" name="Freeform 11"/>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028700" y="2919190"/>
            <a:ext cx="16230600" cy="5738676"/>
          </a:xfrm>
          <a:custGeom>
            <a:avLst/>
            <a:gdLst/>
            <a:ahLst/>
            <a:cxnLst/>
            <a:rect l="l" t="t" r="r" b="b"/>
            <a:pathLst>
              <a:path w="16230600" h="5738676">
                <a:moveTo>
                  <a:pt x="0" y="0"/>
                </a:moveTo>
                <a:lnTo>
                  <a:pt x="16230600" y="0"/>
                </a:lnTo>
                <a:lnTo>
                  <a:pt x="16230600" y="5738677"/>
                </a:lnTo>
                <a:lnTo>
                  <a:pt x="0" y="5738677"/>
                </a:lnTo>
                <a:lnTo>
                  <a:pt x="0" y="0"/>
                </a:lnTo>
                <a:close/>
              </a:path>
            </a:pathLst>
          </a:custGeom>
          <a:blipFill>
            <a:blip r:embed="rId6"/>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197774"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06</a:t>
            </a:r>
          </a:p>
        </p:txBody>
      </p:sp>
      <p:sp>
        <p:nvSpPr>
          <p:cNvPr id="10" name="Freeform 10"/>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RESULT</a:t>
            </a:r>
          </a:p>
        </p:txBody>
      </p:sp>
      <p:pic>
        <p:nvPicPr>
          <p:cNvPr id="1028" name="Picture 4">
            <a:extLst>
              <a:ext uri="{FF2B5EF4-FFF2-40B4-BE49-F238E27FC236}">
                <a16:creationId xmlns:a16="http://schemas.microsoft.com/office/drawing/2014/main" id="{5CE3BD93-183D-EC9A-E62C-C4A37B587E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7045" b="47315"/>
          <a:stretch/>
        </p:blipFill>
        <p:spPr bwMode="auto">
          <a:xfrm>
            <a:off x="1040181" y="2476500"/>
            <a:ext cx="15865967" cy="6256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FUTURE WORK</a:t>
            </a:r>
          </a:p>
        </p:txBody>
      </p:sp>
      <p:sp>
        <p:nvSpPr>
          <p:cNvPr id="7" name="TextBox 7"/>
          <p:cNvSpPr txBox="1"/>
          <p:nvPr/>
        </p:nvSpPr>
        <p:spPr>
          <a:xfrm>
            <a:off x="3056197" y="3263265"/>
            <a:ext cx="14203103" cy="3684271"/>
          </a:xfrm>
          <a:prstGeom prst="rect">
            <a:avLst/>
          </a:prstGeom>
        </p:spPr>
        <p:txBody>
          <a:bodyPr lIns="0" tIns="0" rIns="0" bIns="0" rtlCol="0" anchor="t">
            <a:spAutoFit/>
          </a:bodyPr>
          <a:lstStyle/>
          <a:p>
            <a:pPr marL="906774" lvl="1" indent="-453387" algn="l">
              <a:lnSpc>
                <a:spcPts val="5879"/>
              </a:lnSpc>
              <a:buFont typeface="Arial"/>
              <a:buChar char="•"/>
            </a:pPr>
            <a:r>
              <a:rPr lang="en-US" sz="4199">
                <a:solidFill>
                  <a:srgbClr val="353534"/>
                </a:solidFill>
                <a:latin typeface="Merriweather"/>
                <a:ea typeface="Merriweather"/>
                <a:cs typeface="Merriweather"/>
                <a:sym typeface="Merriweather"/>
              </a:rPr>
              <a:t>Implement the framework.</a:t>
            </a:r>
          </a:p>
          <a:p>
            <a:pPr marL="906774" lvl="1" indent="-453387" algn="l">
              <a:lnSpc>
                <a:spcPts val="5879"/>
              </a:lnSpc>
              <a:buFont typeface="Arial"/>
              <a:buChar char="•"/>
            </a:pPr>
            <a:r>
              <a:rPr lang="en-US" sz="4199">
                <a:solidFill>
                  <a:srgbClr val="353534"/>
                </a:solidFill>
                <a:latin typeface="Merriweather"/>
                <a:ea typeface="Merriweather"/>
                <a:cs typeface="Merriweather"/>
                <a:sym typeface="Merriweather"/>
              </a:rPr>
              <a:t> Test on real-world datasets.</a:t>
            </a:r>
          </a:p>
          <a:p>
            <a:pPr marL="906774" lvl="1" indent="-453387" algn="l">
              <a:lnSpc>
                <a:spcPts val="5879"/>
              </a:lnSpc>
              <a:buFont typeface="Arial"/>
              <a:buChar char="•"/>
            </a:pPr>
            <a:r>
              <a:rPr lang="en-US" sz="4199">
                <a:solidFill>
                  <a:srgbClr val="353534"/>
                </a:solidFill>
                <a:latin typeface="Merriweather"/>
                <a:ea typeface="Merriweather"/>
                <a:cs typeface="Merriweather"/>
                <a:sym typeface="Merriweather"/>
              </a:rPr>
              <a:t>Apply transfer learning across cities.</a:t>
            </a:r>
          </a:p>
          <a:p>
            <a:pPr marL="906774" lvl="1" indent="-453387" algn="l">
              <a:lnSpc>
                <a:spcPts val="5879"/>
              </a:lnSpc>
              <a:buFont typeface="Arial"/>
              <a:buChar char="•"/>
            </a:pPr>
            <a:r>
              <a:rPr lang="en-US" sz="4199">
                <a:solidFill>
                  <a:srgbClr val="353534"/>
                </a:solidFill>
                <a:latin typeface="Merriweather"/>
                <a:ea typeface="Merriweather"/>
                <a:cs typeface="Merriweather"/>
                <a:sym typeface="Merriweather"/>
              </a:rPr>
              <a:t>Incorporate demographic and socioeconomic factors.</a:t>
            </a:r>
          </a:p>
        </p:txBody>
      </p:sp>
      <p:grpSp>
        <p:nvGrpSpPr>
          <p:cNvPr id="8" name="Group 8"/>
          <p:cNvGrpSpPr/>
          <p:nvPr/>
        </p:nvGrpSpPr>
        <p:grpSpPr>
          <a:xfrm>
            <a:off x="16197774"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08</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250612" y="3814128"/>
            <a:ext cx="12023813" cy="1846339"/>
          </a:xfrm>
          <a:prstGeom prst="rect">
            <a:avLst/>
          </a:prstGeom>
        </p:spPr>
        <p:txBody>
          <a:bodyPr lIns="0" tIns="0" rIns="0" bIns="0" rtlCol="0" anchor="t">
            <a:spAutoFit/>
          </a:bodyPr>
          <a:lstStyle/>
          <a:p>
            <a:pPr algn="ctr">
              <a:lnSpc>
                <a:spcPts val="15400"/>
              </a:lnSpc>
              <a:spcBef>
                <a:spcPct val="0"/>
              </a:spcBef>
            </a:pPr>
            <a:r>
              <a:rPr lang="en-US" sz="11000" dirty="0">
                <a:solidFill>
                  <a:srgbClr val="353534"/>
                </a:solidFill>
                <a:latin typeface="Abril Fatface"/>
                <a:ea typeface="Abril Fatface"/>
                <a:cs typeface="Abril Fatface"/>
                <a:sym typeface="Abril Fatface"/>
              </a:rPr>
              <a:t>THANK YOU</a:t>
            </a:r>
          </a:p>
        </p:txBody>
      </p:sp>
      <p:sp>
        <p:nvSpPr>
          <p:cNvPr id="10" name="TextBox 9">
            <a:extLst>
              <a:ext uri="{FF2B5EF4-FFF2-40B4-BE49-F238E27FC236}">
                <a16:creationId xmlns:a16="http://schemas.microsoft.com/office/drawing/2014/main" id="{5F73FB7D-C3EA-4F15-F3EF-6E4BEA04A0DF}"/>
              </a:ext>
            </a:extLst>
          </p:cNvPr>
          <p:cNvSpPr txBox="1"/>
          <p:nvPr/>
        </p:nvSpPr>
        <p:spPr>
          <a:xfrm>
            <a:off x="4690518" y="4762021"/>
            <a:ext cx="9144000" cy="1772665"/>
          </a:xfrm>
          <a:prstGeom prst="rect">
            <a:avLst/>
          </a:prstGeom>
          <a:noFill/>
        </p:spPr>
        <p:txBody>
          <a:bodyPr wrap="square">
            <a:spAutoFit/>
          </a:bodyPr>
          <a:lstStyle/>
          <a:p>
            <a:pPr algn="ctr">
              <a:lnSpc>
                <a:spcPts val="15400"/>
              </a:lnSpc>
              <a:spcBef>
                <a:spcPct val="0"/>
              </a:spcBef>
            </a:pPr>
            <a:r>
              <a:rPr lang="en-US" sz="6000" i="1" dirty="0">
                <a:solidFill>
                  <a:srgbClr val="353534"/>
                </a:solidFill>
                <a:latin typeface="Abril Fatface"/>
                <a:ea typeface="Abril Fatface"/>
                <a:cs typeface="Abril Fatface"/>
                <a:sym typeface="Abril Fatface"/>
              </a:rPr>
              <a:t>ANY QUESTIONS?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457</Words>
  <Application>Microsoft Office PowerPoint</Application>
  <PresentationFormat>Custom</PresentationFormat>
  <Paragraphs>116</Paragraphs>
  <Slides>16</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7" baseType="lpstr">
      <vt:lpstr>Antic</vt:lpstr>
      <vt:lpstr>Gill Sans Condensed</vt:lpstr>
      <vt:lpstr>Merriweather</vt:lpstr>
      <vt:lpstr>Arial</vt:lpstr>
      <vt:lpstr>Abril Fatface</vt:lpstr>
      <vt:lpstr>Antic Bold</vt:lpstr>
      <vt:lpstr>Calibri</vt:lpstr>
      <vt:lpstr>Calibri (MS) Italics</vt:lpstr>
      <vt:lpstr>Merriweather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and Beige Minimalist Professional Presentation</dc:title>
  <cp:lastModifiedBy>Isha Nabeel</cp:lastModifiedBy>
  <cp:revision>10</cp:revision>
  <dcterms:created xsi:type="dcterms:W3CDTF">2006-08-16T00:00:00Z</dcterms:created>
  <dcterms:modified xsi:type="dcterms:W3CDTF">2026-06-24T06:41:31Z</dcterms:modified>
  <dc:identifier>DAHM20dZa4I</dc:identifier>
</cp:coreProperties>
</file>